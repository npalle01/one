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BCBS 239 (Basel Committee): Principles for effective risk data aggregation and risk reporting (Jan 2013). https://www.bis.org/publ/bcbs239.pdf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FR Y-9C reporting form overview and instructions downloads (Federal Reserve). https://www.federalreserve.gov/apps/reportingforms/Report/Index/FR_Y-9C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BCBS 239, Principle 3 (Accuracy &amp; integrity) emphasizes accurate aggregation with reduced manual error (ECB thematic review quoting BCBS239). https://www.bankingsupervision.europa.eu/ecb/pub/pdf/ssm.BCBS_239_report_201805.pdf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BCBS 239 (Basel Committee): Principles for effective risk data aggregation and risk reporting (Jan 2013). https://www.bis.org/publ/bcbs239.pdf
- ECB thematic review quoting BCBS Principle 3 (Accuracy &amp; integrity). https://www.bankingsupervision.europa.eu/ecb/pub/pdf/ssm.BCBS_239_report_201805.pdf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FR Y-9C reporting form overview (Federal Reserve). https://www.federalreserve.gov/apps/reportingforms/Report/Index/FR_Y-9C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GL Data Mart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audit-ready architecture that prevents regulatory double counting (Y-9C, FR-2590, etc.)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495044" cy="32004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97864"/>
            <a:ext cx="14950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GL Facts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80844" y="1143000"/>
            <a:ext cx="1417320" cy="3200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80844" y="119786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35324" y="1143000"/>
            <a:ext cx="2505456" cy="3200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5324" y="119786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Bridge (Weights)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77940" y="1143000"/>
            <a:ext cx="1572768" cy="3200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7940" y="1197864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BCBS239 Controls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11064240" cy="4480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3317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GL at an immutable, reconciled grain (period × ledger × legal entity × GL account).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regulatory classification into versioned metadata rulesets (no hard-coded joins).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GL→Report Attribution Bridge with allocation weights; enforce Σ(weight)=1 per GL row.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reporting marts as SUM-only aggregations over attributed amounts; keep full drill-through lineage.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failure mode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Y-9C (and other reports) get inflated when mapping changes the grain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77840" cy="48463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GL row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48463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14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(Period, Ledger, LE, GL Acct)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$X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join to mapping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4846320" cy="914400"/>
          </a:xfrm>
          <a:prstGeom prst="roundRect">
            <a:avLst/>
          </a:prstGeom>
          <a:solidFill>
            <a:srgbClr val="13233F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7939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Acct → {Y9C Line A, Y9C Line B, …}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amount multiplied (1×N)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280160"/>
            <a:ext cx="5257800" cy="48463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463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fix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19659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attach report lines directly to the GL fact.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Attribution Bridge with allocation weights.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Σ(weight)=1 per GL row (or Σ(allocated)=GL amount).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ONLY after attribution (SUM-only marts).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4663440"/>
            <a:ext cx="4754880" cy="1005840"/>
          </a:xfrm>
          <a:prstGeom prst="roundRect">
            <a:avLst/>
          </a:prstGeom>
          <a:solidFill>
            <a:srgbClr val="0B2A1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7548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rows: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 weight 0.6 → $0.6X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 weight 0.4 → $0.4X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$X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reference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that scales across all regulatory and management reports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972800" cy="6858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1790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66160" y="15361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GL, subledgers, lease systems, vendor finance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384280" y="2057400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221992"/>
            <a:ext cx="109728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3682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38658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 (replayable, traceable)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384280" y="2907792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3072384"/>
            <a:ext cx="10972800" cy="68580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218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23697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GL fact (reconciled, immutable grain)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384280" y="3758184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3922776"/>
            <a:ext cx="10972800" cy="685800"/>
          </a:xfrm>
          <a:prstGeom prst="roundRect">
            <a:avLst/>
          </a:prstGeom>
          <a:solidFill>
            <a:srgbClr val="113B2F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069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– Classification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40873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entity/product flags (effective-dated)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384280" y="4608576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4773168"/>
            <a:ext cx="10972800" cy="685800"/>
          </a:xfrm>
          <a:prstGeom prst="roundRect">
            <a:avLst/>
          </a:prstGeom>
          <a:solidFill>
            <a:srgbClr val="3B2A5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9194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– Rule Engine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66160" y="4937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metadata rulesets + approvals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384280" y="5458968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" y="5623560"/>
            <a:ext cx="10972800" cy="6858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57698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– Attribution Bridge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66160" y="57881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GL→Report rows with weights (Σw=1)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1384280" y="6309360"/>
            <a:ext cx="0" cy="164592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" y="6473952"/>
            <a:ext cx="10972800" cy="685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5840" y="66202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– Report Marts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66160" y="663854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SUM-only outputs (Y-9C, FR-2590, CCAR)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95360" y="6126480"/>
            <a:ext cx="3108960" cy="59436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6245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 GL grain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flow (swimlane)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stages, control gates, and UI touchpoints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64240" cy="14630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Engine (CRRT)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11064240" cy="14630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29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(CR360)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1783080"/>
            <a:ext cx="237744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1892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GL journals/balances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1783080"/>
            <a:ext cx="2743200" cy="822960"/>
          </a:xfrm>
          <a:prstGeom prst="roundRect">
            <a:avLst/>
          </a:prstGeom>
          <a:solidFill>
            <a:srgbClr val="0B2A4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2194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codes &amp; keys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783080"/>
            <a:ext cx="2834640" cy="822960"/>
          </a:xfrm>
          <a:prstGeom prst="roundRect">
            <a:avLst/>
          </a:prstGeom>
          <a:solidFill>
            <a:srgbClr val="113B2F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8928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&amp; control totals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0" y="1783080"/>
            <a:ext cx="164592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66960" y="18928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6696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atomic GL 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219456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19456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2194560"/>
            <a:ext cx="1371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12280" y="2697480"/>
            <a:ext cx="4617720" cy="32004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77063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if GL not certified → stop downstream attribution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280160" y="3520440"/>
            <a:ext cx="2926080" cy="822960"/>
          </a:xfrm>
          <a:prstGeom prst="roundRect">
            <a:avLst/>
          </a:prstGeom>
          <a:solidFill>
            <a:srgbClr val="3B2A5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6304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MAP_RULESET version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3520440"/>
            <a:ext cx="3108960" cy="822960"/>
          </a:xfrm>
          <a:prstGeom prst="roundRect">
            <a:avLst/>
          </a:prstGeom>
          <a:solidFill>
            <a:srgbClr val="3B2A5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1772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criteria + precedence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0" y="3520440"/>
            <a:ext cx="3657600" cy="8229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55280" y="3630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bridge rows with weights (Σw=1)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43800" y="393192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280160" y="5257800"/>
            <a:ext cx="3291840" cy="8229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5367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669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SUM-only marts per report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5257800"/>
            <a:ext cx="3291840" cy="8229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83480" y="5367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83480" y="5669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+ drill to GL &amp; rule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5257800"/>
            <a:ext cx="3108960" cy="8229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503920" y="5367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0392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+ controls for audit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17720" y="566928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092440" y="56692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separation of GL truth vs classifications vs reporting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(Silver)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FACT_GL_BALANCE (immutable)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846320" cy="1325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3172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Ledger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Entity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Currency)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balance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4846320" cy="86868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2219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Y-9C / FRN_DOM / LCR / risk buckets in this fact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(Gold)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1874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1945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MAP_RULESET / MAP_RULE / CRITERIA /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effective-dated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bridge (prevents inflation)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3383280"/>
            <a:ext cx="4663440" cy="1188720"/>
          </a:xfrm>
          <a:prstGeom prst="roundRect">
            <a:avLst/>
          </a:prstGeom>
          <a:solidFill>
            <a:srgbClr val="0B2A1A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493008"/>
            <a:ext cx="43434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BRIDGE_GL_REPORT_ATTRIBUTION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gl_fact_key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report_line_key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(0..1)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allocation_amount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rule_id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Σ(weight)=1 per gl_fact_key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709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MART_Y9C / MART_FR2590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501091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SUM-only aggregations over allocation_amount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drill-through preserved)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functional pairings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ERA / CRRT / CR360 map to platform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7091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27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– GL Control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1089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&amp; certification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vs subledger reconciliation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Close/lock atomic GL fact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workflow for source breaks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57600" cy="47091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3657600" cy="5029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27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CRRT – Regulatory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31089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Author/version rulesets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Approve/effective-date changes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allocation methods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attribution bridge with lineage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57600" cy="47091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17320"/>
            <a:ext cx="3657600" cy="5029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527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CR360 – Consumption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194560"/>
            <a:ext cx="31089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SUM-only report marts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UI: deltas &amp; drill-down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</a:t>
            </a:r>
            <a:endParaRPr lang="en-US" sz="15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Audit/evidence exports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governance (hard gates)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that prevent inflation/leakage and support audit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control checks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671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2167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Σ(GL amount) = Σ(allocated amount) by ledger, entity, period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79192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integrity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GL key, Σ(weight) = 1.0000 (fail pipeline if breached)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46704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502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5021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99.9% of GL amount mapped; remainder routed to exception workflow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14216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1696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discipline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41696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rulesets can run production; effective dating enforced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681728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837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48371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delta analysis by report line vs prior version/period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349240"/>
            <a:ext cx="1042416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43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5504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5504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row drillable to contributing GL keys + rule_id(s)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→ enterprise hardening → scale-out to all reports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11880" cy="4480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11880" cy="5943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007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(PoC)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GL fact + reconciliation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 metadata (Y-9C)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bridge + Σw=1 gate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SUM-only Y-9C mart + drill-down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611880" cy="4480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3611880" cy="5943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007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(Enterprise)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dating + approvals workflow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allocations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UI + SLA workflow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delta/impact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95360" y="1554480"/>
            <a:ext cx="3611880" cy="448056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43B5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1554480"/>
            <a:ext cx="3611880" cy="59436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7007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(Scale)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2286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FR-2590 / FR Y-15 / CCAR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controls dashboard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automation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partition strategy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issue evidence (from current implementation)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provided by stakeholders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</a:t>
            </a:r>
            <a:endParaRPr lang="en-US" sz="1600" dirty="0"/>
          </a:p>
        </p:txBody>
      </p:sp>
      <p:pic>
        <p:nvPicPr>
          <p:cNvPr id="6" name="Image 0" descr="/mnt/data/B1F7FCBE-7AF0-48C3-A1E0-78D2BCFA8F9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507492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</a:t>
            </a:r>
            <a:endParaRPr lang="en-US" sz="1600" dirty="0"/>
          </a:p>
        </p:txBody>
      </p:sp>
      <p:pic>
        <p:nvPicPr>
          <p:cNvPr id="9" name="Image 1" descr="/mnt/data/1204A107-B21F-44BF-979E-C9F3DC28996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48920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approved to proceed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548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immutable Atomic GL Fact as the only source of financial truth (no reporting attributes embedded).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metadata-driven regulatory rulesets with versioning, effective dating, and approvals.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Attribution Bridge pattern with enforced Σ(weight)=1 per GL row (no double counting).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SUM-only report marts + mandatory drill-through lineage to GL and rule IDs.</a:t>
            </a:r>
            <a:endParaRPr lang="en-US" sz="18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control gates (no inflation/leakage) as release criteria for any regulatory output.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Enterprise GL Data Mart – Architecture Pack</dc:creator>
  <cp:lastModifiedBy>Enterprise GL Data Mart – Architecture Pack</cp:lastModifiedBy>
  <cp:revision>1</cp:revision>
  <dcterms:created xsi:type="dcterms:W3CDTF">2026-01-07T12:01:59Z</dcterms:created>
  <dcterms:modified xsi:type="dcterms:W3CDTF">2026-01-07T12:01:59Z</dcterms:modified>
</cp:coreProperties>
</file>